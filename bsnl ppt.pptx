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273" r:id="rId5"/>
    <p:sldId id="259" r:id="rId6"/>
    <p:sldId id="260" r:id="rId7"/>
    <p:sldId id="266" r:id="rId8"/>
    <p:sldId id="267" r:id="rId9"/>
    <p:sldId id="261" r:id="rId10"/>
    <p:sldId id="262" r:id="rId11"/>
    <p:sldId id="263"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B653E54C-65BC-480D-B255-D4881B8228AA}" type="datetimeFigureOut">
              <a:rPr lang="en-IN" smtClean="0"/>
              <a:t>23-01-2020</a:t>
            </a:fld>
            <a:endParaRPr lang="en-IN"/>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IN"/>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932BEF3D-0794-4046-AEB1-A512CAEE509C}" type="slidenum">
              <a:rPr lang="en-IN" smtClean="0"/>
              <a:t>‹#›</a:t>
            </a:fld>
            <a:endParaRPr lang="en-IN"/>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53E54C-65BC-480D-B255-D4881B8228AA}" type="datetimeFigureOut">
              <a:rPr lang="en-IN" smtClean="0"/>
              <a:t>23-01-2020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2BEF3D-0794-4046-AEB1-A512CAEE509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B653E54C-65BC-480D-B255-D4881B8228AA}" type="datetimeFigureOut">
              <a:rPr lang="en-IN" smtClean="0"/>
              <a:t>23-01-2020</a:t>
            </a:fld>
            <a:endParaRPr lang="en-IN"/>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IN"/>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932BEF3D-0794-4046-AEB1-A512CAEE509C}" type="slidenum">
              <a:rPr lang="en-IN" smtClean="0"/>
              <a:t>‹#›</a:t>
            </a:fld>
            <a:endParaRPr lang="en-IN"/>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53E54C-65BC-480D-B255-D4881B8228AA}" type="datetimeFigureOut">
              <a:rPr lang="en-IN" smtClean="0"/>
              <a:t>23-01-2020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2BEF3D-0794-4046-AEB1-A512CAEE509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53E54C-65BC-480D-B255-D4881B8228AA}" type="datetimeFigureOut">
              <a:rPr lang="en-IN" smtClean="0"/>
              <a:t>23-01-2020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32BEF3D-0794-4046-AEB1-A512CAEE509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53E54C-65BC-480D-B255-D4881B8228AA}" type="datetimeFigureOut">
              <a:rPr lang="en-IN" smtClean="0"/>
              <a:t>23-01-2020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2BEF3D-0794-4046-AEB1-A512CAEE509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53E54C-65BC-480D-B255-D4881B8228AA}" type="datetimeFigureOut">
              <a:rPr lang="en-IN" smtClean="0"/>
              <a:t>23-01-2020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32BEF3D-0794-4046-AEB1-A512CAEE509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B653E54C-65BC-480D-B255-D4881B8228AA}" type="datetimeFigureOut">
              <a:rPr lang="en-IN" smtClean="0"/>
              <a:t>23-01-2020</a:t>
            </a:fld>
            <a:endParaRPr lang="en-IN"/>
          </a:p>
        </p:txBody>
      </p:sp>
      <p:sp>
        <p:nvSpPr>
          <p:cNvPr id="6" name="Footer Placeholder 5"/>
          <p:cNvSpPr>
            <a:spLocks noGrp="1"/>
          </p:cNvSpPr>
          <p:nvPr>
            <p:ph type="ftr" sz="quarter" idx="11"/>
          </p:nvPr>
        </p:nvSpPr>
        <p:spPr>
          <a:xfrm>
            <a:off x="2103620" y="6375679"/>
            <a:ext cx="3482179" cy="345796"/>
          </a:xfrm>
        </p:spPr>
        <p:txBody>
          <a:bodyPr/>
          <a:lstStyle/>
          <a:p>
            <a:endParaRPr lang="en-IN"/>
          </a:p>
        </p:txBody>
      </p:sp>
      <p:sp>
        <p:nvSpPr>
          <p:cNvPr id="7" name="Slide Number Placeholder 6"/>
          <p:cNvSpPr>
            <a:spLocks noGrp="1"/>
          </p:cNvSpPr>
          <p:nvPr>
            <p:ph type="sldNum" sz="quarter" idx="12"/>
          </p:nvPr>
        </p:nvSpPr>
        <p:spPr>
          <a:xfrm>
            <a:off x="5691014" y="6375679"/>
            <a:ext cx="1232456" cy="345796"/>
          </a:xfrm>
        </p:spPr>
        <p:txBody>
          <a:bodyPr/>
          <a:lstStyle/>
          <a:p>
            <a:fld id="{932BEF3D-0794-4046-AEB1-A512CAEE509C}" type="slidenum">
              <a:rPr lang="en-IN" smtClean="0"/>
              <a:t>‹#›</a:t>
            </a:fld>
            <a:endParaRPr lang="en-IN"/>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B653E54C-65BC-480D-B255-D4881B8228AA}" type="datetimeFigureOut">
              <a:rPr lang="en-IN" smtClean="0"/>
              <a:t>23-01-2020</a:t>
            </a:fld>
            <a:endParaRPr lang="en-IN"/>
          </a:p>
        </p:txBody>
      </p:sp>
      <p:sp>
        <p:nvSpPr>
          <p:cNvPr id="6" name="Footer Placeholder 5"/>
          <p:cNvSpPr>
            <a:spLocks noGrp="1"/>
          </p:cNvSpPr>
          <p:nvPr>
            <p:ph type="ftr" sz="quarter" idx="11"/>
          </p:nvPr>
        </p:nvSpPr>
        <p:spPr>
          <a:xfrm>
            <a:off x="2103621" y="6375679"/>
            <a:ext cx="3482178" cy="345796"/>
          </a:xfrm>
        </p:spPr>
        <p:txBody>
          <a:bodyPr/>
          <a:lstStyle/>
          <a:p>
            <a:endParaRPr lang="en-IN"/>
          </a:p>
        </p:txBody>
      </p:sp>
      <p:sp>
        <p:nvSpPr>
          <p:cNvPr id="7" name="Slide Number Placeholder 6"/>
          <p:cNvSpPr>
            <a:spLocks noGrp="1"/>
          </p:cNvSpPr>
          <p:nvPr>
            <p:ph type="sldNum" sz="quarter" idx="12"/>
          </p:nvPr>
        </p:nvSpPr>
        <p:spPr>
          <a:xfrm>
            <a:off x="5687568" y="6375679"/>
            <a:ext cx="1234440" cy="345796"/>
          </a:xfrm>
        </p:spPr>
        <p:txBody>
          <a:bodyPr/>
          <a:lstStyle/>
          <a:p>
            <a:fld id="{932BEF3D-0794-4046-AEB1-A512CAEE509C}"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53E54C-65BC-480D-B255-D4881B8228AA}" type="datetimeFigureOut">
              <a:rPr lang="en-IN" smtClean="0"/>
              <a:t>23-01-2020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2BEF3D-0794-4046-AEB1-A512CAEE509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53E54C-65BC-480D-B255-D4881B8228AA}" type="datetimeFigureOut">
              <a:rPr lang="en-IN" smtClean="0"/>
              <a:t>23-01-2020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2BEF3D-0794-4046-AEB1-A512CAEE509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B653E54C-65BC-480D-B255-D4881B8228AA}" type="datetimeFigureOut">
              <a:rPr lang="en-IN" smtClean="0"/>
              <a:t>23-01-2020</a:t>
            </a:fld>
            <a:endParaRPr lang="en-IN"/>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IN"/>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932BEF3D-0794-4046-AEB1-A512CAEE509C}" type="slidenum">
              <a:rPr lang="en-IN" smtClean="0"/>
              <a:t>‹#›</a:t>
            </a:fld>
            <a:endParaRPr lang="en-IN"/>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8522" y="1986108"/>
            <a:ext cx="10318418" cy="2885783"/>
          </a:xfrm>
        </p:spPr>
        <p:txBody>
          <a:bodyPr/>
          <a:lstStyle/>
          <a:p>
            <a:br>
              <a:rPr lang="en-IN" sz="6000" dirty="0"/>
            </a:br>
            <a:br>
              <a:rPr lang="en-IN" sz="6000" dirty="0"/>
            </a:br>
            <a:r>
              <a:rPr lang="en-IN" sz="1600" dirty="0"/>
              <a:t>[TELEPHONE BHAWAN]</a:t>
            </a:r>
          </a:p>
        </p:txBody>
      </p:sp>
      <p:sp>
        <p:nvSpPr>
          <p:cNvPr id="3" name="Subtitle 2"/>
          <p:cNvSpPr>
            <a:spLocks noGrp="1"/>
          </p:cNvSpPr>
          <p:nvPr>
            <p:ph type="subTitle" idx="1"/>
          </p:nvPr>
        </p:nvSpPr>
        <p:spPr>
          <a:xfrm>
            <a:off x="7557796" y="5372705"/>
            <a:ext cx="3839144" cy="1018763"/>
          </a:xfrm>
        </p:spPr>
        <p:txBody>
          <a:bodyPr>
            <a:normAutofit fontScale="70000" lnSpcReduction="20000"/>
          </a:bodyPr>
          <a:lstStyle/>
          <a:p>
            <a:pPr algn="l"/>
            <a:r>
              <a:rPr lang="en-IN" dirty="0"/>
              <a:t>NAME- SRIJAN TRIPATHI</a:t>
            </a:r>
          </a:p>
          <a:p>
            <a:pPr algn="l"/>
            <a:r>
              <a:rPr lang="en-IN" dirty="0"/>
              <a:t>REG NO- RA1711003030187</a:t>
            </a:r>
          </a:p>
          <a:p>
            <a:pPr algn="l"/>
            <a:r>
              <a:rPr lang="en-IN" dirty="0"/>
              <a:t>CLASS- CSE C</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1661" y="1793311"/>
            <a:ext cx="2248677" cy="22193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ACKNOWLEDGEMENT</a:t>
            </a:r>
          </a:p>
        </p:txBody>
      </p:sp>
      <p:sp>
        <p:nvSpPr>
          <p:cNvPr id="3" name="Content Placeholder 2"/>
          <p:cNvSpPr>
            <a:spLocks noGrp="1"/>
          </p:cNvSpPr>
          <p:nvPr>
            <p:ph idx="1"/>
          </p:nvPr>
        </p:nvSpPr>
        <p:spPr/>
        <p:txBody>
          <a:bodyPr/>
          <a:lstStyle/>
          <a:p>
            <a:r>
              <a:rPr lang="en-US" dirty="0"/>
              <a:t>It gives me immense pleasure to express ours profound gratitude to ours </a:t>
            </a:r>
            <a:r>
              <a:rPr lang="en-US" dirty="0" err="1"/>
              <a:t>bonafide</a:t>
            </a:r>
            <a:r>
              <a:rPr lang="en-US" dirty="0"/>
              <a:t> University, SRM INSTITUTE OF SCIENCE AND TECHNOLOGY to encourage students to undergo summer training to gain valuable practical experiences from various industries and companies. I extend my thanks to SDE in charge of training </a:t>
            </a:r>
            <a:r>
              <a:rPr lang="en-US" dirty="0" err="1"/>
              <a:t>Mr.j</a:t>
            </a:r>
            <a:r>
              <a:rPr lang="en-US" dirty="0"/>
              <a:t> </a:t>
            </a:r>
            <a:r>
              <a:rPr lang="en-US" dirty="0" err="1"/>
              <a:t>mandal</a:t>
            </a:r>
            <a:r>
              <a:rPr lang="en-US" dirty="0"/>
              <a:t>, who encouraged us to undergo this implant training at BSNL’s Advanced Training Centre, Patna. </a:t>
            </a:r>
          </a:p>
          <a:p>
            <a:r>
              <a:rPr lang="en-US" dirty="0"/>
              <a:t>I also extend my thanks to all the faculties and teaching staff at BSNL for their invaluable support and assistance.  </a:t>
            </a:r>
          </a:p>
          <a:p>
            <a:r>
              <a:rPr lang="en-US" dirty="0"/>
              <a:t>Lastly I would like to thank all the employees/respondents of BSNL, Patna.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ABOUT THE ORGANISATION</a:t>
            </a:r>
          </a:p>
        </p:txBody>
      </p:sp>
      <p:sp>
        <p:nvSpPr>
          <p:cNvPr id="3" name="Content Placeholder 2"/>
          <p:cNvSpPr>
            <a:spLocks noGrp="1"/>
          </p:cNvSpPr>
          <p:nvPr>
            <p:ph idx="1"/>
          </p:nvPr>
        </p:nvSpPr>
        <p:spPr/>
        <p:txBody>
          <a:bodyPr/>
          <a:lstStyle/>
          <a:p>
            <a:r>
              <a:rPr lang="en-IN" dirty="0"/>
              <a:t>I did my industrial training from BSNL. </a:t>
            </a:r>
            <a:r>
              <a:rPr lang="en-IN" dirty="0" err="1"/>
              <a:t>Bsnl</a:t>
            </a:r>
            <a:r>
              <a:rPr lang="en-IN" dirty="0"/>
              <a:t> is India’s oldest and largest Communication Service Provider. Currently BSNL has a customer base of 64.8 million. It has footprints throughout India except for the metropolitan cities of Mumbai and New Delhi which are managed by MTNL.  As on March 31, 2010 BSNL  commanded a customer base of 33.7 million Wireline, 3.6 million CDMA-WLL and 27.5 million GSM mobile subscribers. BSNL’s earnings for the Financial Year ending March 31, 2010 stood at INR 401.8b with net profit of INR 89.4b.  Today BSNL is India’s largest telecom and one of largest Public Sector Undertaking of the country with authorized share capital of INR 17,500 Crores.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9250" y="5160366"/>
            <a:ext cx="1333500" cy="143845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CERTIFICATE</a:t>
            </a:r>
          </a:p>
        </p:txBody>
      </p:sp>
      <p:pic>
        <p:nvPicPr>
          <p:cNvPr id="4" name="Content Placeholder 3" descr="WhatsApp Image 2019-09-23 at 1.39.54 PM"/>
          <p:cNvPicPr>
            <a:picLocks noGrp="1" noChangeAspect="1"/>
          </p:cNvPicPr>
          <p:nvPr>
            <p:ph idx="1"/>
          </p:nvPr>
        </p:nvPicPr>
        <p:blipFill>
          <a:blip r:embed="rId2"/>
          <a:stretch>
            <a:fillRect/>
          </a:stretch>
        </p:blipFill>
        <p:spPr>
          <a:xfrm>
            <a:off x="2757170" y="1456690"/>
            <a:ext cx="7166610" cy="49218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TOPICS COVERED</a:t>
            </a:r>
          </a:p>
        </p:txBody>
      </p:sp>
      <p:sp>
        <p:nvSpPr>
          <p:cNvPr id="3" name="Content Placeholder 2"/>
          <p:cNvSpPr>
            <a:spLocks noGrp="1"/>
          </p:cNvSpPr>
          <p:nvPr>
            <p:ph idx="1"/>
          </p:nvPr>
        </p:nvSpPr>
        <p:spPr/>
        <p:txBody>
          <a:bodyPr/>
          <a:lstStyle/>
          <a:p>
            <a:r>
              <a:rPr lang="en-US" dirty="0"/>
              <a:t> LOCAL AND TRUNK LINE  </a:t>
            </a:r>
          </a:p>
          <a:p>
            <a:r>
              <a:rPr lang="en-US" dirty="0"/>
              <a:t>PCM  </a:t>
            </a:r>
          </a:p>
          <a:p>
            <a:r>
              <a:rPr lang="en-US" dirty="0"/>
              <a:t>FIBRE OPTICS COMMUNICATION  </a:t>
            </a:r>
          </a:p>
          <a:p>
            <a:r>
              <a:rPr lang="en-US" dirty="0"/>
              <a:t>OVERVIEW OF MOBILE COMMUNICATION  </a:t>
            </a:r>
          </a:p>
          <a:p>
            <a:r>
              <a:rPr lang="en-US" dirty="0"/>
              <a:t>GSM TECHNOLOGY  </a:t>
            </a:r>
          </a:p>
          <a:p>
            <a:r>
              <a:rPr lang="en-US" dirty="0"/>
              <a:t>CDMA TECHNOLOGY  </a:t>
            </a:r>
          </a:p>
          <a:p>
            <a:r>
              <a:rPr lang="en-US" dirty="0"/>
              <a:t>INTRODUCTION TO INTERNET AND BROADBAND </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VOIP- INTRODUCTION AND BACKGROUND</a:t>
            </a:r>
            <a:br>
              <a:rPr lang="en-IN" dirty="0"/>
            </a:br>
            <a:endParaRPr lang="en-IN" dirty="0"/>
          </a:p>
        </p:txBody>
      </p:sp>
      <p:sp>
        <p:nvSpPr>
          <p:cNvPr id="3" name="Content Placeholder 2"/>
          <p:cNvSpPr>
            <a:spLocks noGrp="1"/>
          </p:cNvSpPr>
          <p:nvPr>
            <p:ph idx="1"/>
          </p:nvPr>
        </p:nvSpPr>
        <p:spPr>
          <a:xfrm>
            <a:off x="1251678" y="1710813"/>
            <a:ext cx="10178322" cy="4857135"/>
          </a:xfrm>
        </p:spPr>
        <p:txBody>
          <a:bodyPr>
            <a:normAutofit fontScale="75000" lnSpcReduction="20000"/>
          </a:bodyPr>
          <a:lstStyle/>
          <a:p>
            <a:pPr marL="0" indent="0">
              <a:buNone/>
            </a:pPr>
            <a:r>
              <a:rPr lang="en-US" dirty="0"/>
              <a:t> </a:t>
            </a:r>
          </a:p>
          <a:p>
            <a:r>
              <a:rPr lang="en-US" dirty="0"/>
              <a:t>The technology of Voice over Internet Protocol (VoIP) involves using the technology of the Internet Network to deliver voice communications and multimedia session as packets over the network. Because VoIP is a telephony service, it is also referred to as broadband phone service, internet telephony, IP telephony, and broadband telephony. Due to the affordances of Internet-ready phones, and the fact that the IP is the communication protocol of most devices, VoIP is best positioned to be the service platform for next-generation application. The Public Switched Transfer Network (PSTN) on the other hand is a connection-oriented, circuit-switched network that uses dedicated channels for transmission. The PSTN had switched to transmitting digital signals to solve the problems associated with its original analog transmission using Pulse Code Modulation (PCM) to convert all analog signals into digital transmissions at the calling and receiving ends. However, the PSTN suffers two significant disadvantages: high cost resulting from the expensive bandwidth and an inefficient use of networking channels. VoIP unlike its predecessor, the PSTN which is currently built on a closed infrastructure; is built on an open infrastructure and several vendors can provide applications and access. While the PSTN technology involves vendors only building applications specific for their equipment and its current architecture has not made it possible for many vendors to write new applications for it; VoIP allows the development of more creative solutions and applications as well as the convergence of data, voice and video in one channel.</a:t>
            </a:r>
          </a:p>
          <a:p>
            <a:r>
              <a:rPr lang="en-US" dirty="0"/>
              <a:t>VOIP is a protocol which is used </a:t>
            </a:r>
            <a:r>
              <a:rPr lang="en-US"/>
              <a:t>to deliver </a:t>
            </a:r>
            <a:r>
              <a:rPr lang="en-IN" altLang="en-US"/>
              <a:t>voice iformation digitally over the same network which we use for the internet. reduces the cost. reduce the no of physical connection as each employee can have their own virtual extension. In this the voice messages are sent from one device to other in the form of packets.</a:t>
            </a:r>
            <a:r>
              <a:rPr lang="en-US"/>
              <a:t> </a:t>
            </a:r>
            <a:endParaRPr lang="en-IN" dirty="0"/>
          </a:p>
          <a:p>
            <a:endParaRPr lang="en-US"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VOIP- INTRODUCTION AND BACKGROUND</a:t>
            </a:r>
            <a:br>
              <a:rPr lang="en-US" b="1" dirty="0"/>
            </a:br>
            <a:endParaRPr lang="en-IN" dirty="0"/>
          </a:p>
        </p:txBody>
      </p:sp>
      <p:sp>
        <p:nvSpPr>
          <p:cNvPr id="3" name="Content Placeholder 2"/>
          <p:cNvSpPr>
            <a:spLocks noGrp="1"/>
          </p:cNvSpPr>
          <p:nvPr>
            <p:ph idx="1"/>
          </p:nvPr>
        </p:nvSpPr>
        <p:spPr/>
        <p:txBody>
          <a:bodyPr/>
          <a:lstStyle/>
          <a:p>
            <a:r>
              <a:rPr lang="en-US" dirty="0"/>
              <a:t>This research is aimed at simulating a VoIP-based telephony service using a university communication system. We believe that if we can successfully implement the simulation, and given the advantages of VoIP over the traditional PSTN technology, a modern telephony system can be implemented for the campus. The researchers aimed at reducing cable clusters around offices, facilitating in-office communication and enabling conference calling at any point where the IP phone or VoIP phone is being installed. The project covered the interconnection of different offices and the researchers, with the help of simulation showed that it was possible to make cheaper calls using the desk IP phone and video streaming on the Soft Phones and interfaces installed on Personal Computers (PC).</a:t>
            </a:r>
            <a:endParaRPr lang="en-IN" dirty="0"/>
          </a:p>
          <a:p>
            <a:pPr marL="0" indent="0">
              <a:buNone/>
            </a:pP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DHCP CONFIGURATION</a:t>
            </a:r>
          </a:p>
        </p:txBody>
      </p:sp>
      <p:sp>
        <p:nvSpPr>
          <p:cNvPr id="3" name="Content Placeholder 2"/>
          <p:cNvSpPr>
            <a:spLocks noGrp="1"/>
          </p:cNvSpPr>
          <p:nvPr>
            <p:ph idx="1"/>
          </p:nvPr>
        </p:nvSpPr>
        <p:spPr/>
        <p:txBody>
          <a:bodyPr>
            <a:normAutofit lnSpcReduction="20000"/>
          </a:bodyPr>
          <a:lstStyle/>
          <a:p>
            <a:r>
              <a:rPr lang="en-IN" dirty="0"/>
              <a:t>The </a:t>
            </a:r>
            <a:r>
              <a:rPr lang="en-IN" b="1" dirty="0"/>
              <a:t>Dynamic Host Configuration Protocol</a:t>
            </a:r>
            <a:r>
              <a:rPr lang="en-IN" dirty="0"/>
              <a:t> (</a:t>
            </a:r>
            <a:r>
              <a:rPr lang="en-IN" b="1" dirty="0"/>
              <a:t>DHCP</a:t>
            </a:r>
            <a:r>
              <a:rPr lang="en-IN" dirty="0"/>
              <a:t>) is a network management protocol used on UDP/IP networks whereby a DHCP server dynamically assigns an IP address and other network configuration parameters to each device on a network so they can communicate with other IP networks.</a:t>
            </a:r>
            <a:r>
              <a:rPr lang="en-IN" baseline="30000" dirty="0"/>
              <a:t> </a:t>
            </a:r>
            <a:r>
              <a:rPr lang="en-IN" dirty="0"/>
              <a:t>A DHCP server enables computers to request IP addresses and networking parameters automatically from the Internet service provider(ISP), reducing the need for a network administrator or a user to manually assign IP addresses to all network devices.</a:t>
            </a:r>
            <a:r>
              <a:rPr lang="en-IN" baseline="30000" dirty="0"/>
              <a:t> </a:t>
            </a:r>
            <a:r>
              <a:rPr lang="en-IN" dirty="0"/>
              <a:t>In the absence of a DHCP server, a computer or other device on the network needs to be manually assigned an IP address, or to assign itself an APIPA address, which will not enable it to communicate outside its local subnet.</a:t>
            </a:r>
          </a:p>
          <a:p>
            <a:r>
              <a:rPr lang="en-IN" dirty="0"/>
              <a:t>DHCP is anetwork management protocol. DHCP works on client server model. It enables the server to automatically assign an IP address to a computer from from a defined name of numbers configured for a given network </a:t>
            </a:r>
          </a:p>
          <a:p>
            <a:pPr marL="0" indent="0">
              <a:buNone/>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PROJECT DESCRIPTION</a:t>
            </a:r>
            <a:br>
              <a:rPr lang="en-IN" dirty="0"/>
            </a:br>
            <a:endParaRPr lang="en-IN" dirty="0"/>
          </a:p>
        </p:txBody>
      </p:sp>
      <p:sp>
        <p:nvSpPr>
          <p:cNvPr id="3" name="Content Placeholder 2"/>
          <p:cNvSpPr>
            <a:spLocks noGrp="1"/>
          </p:cNvSpPr>
          <p:nvPr>
            <p:ph idx="1"/>
          </p:nvPr>
        </p:nvSpPr>
        <p:spPr/>
        <p:txBody>
          <a:bodyPr/>
          <a:lstStyle/>
          <a:p>
            <a:r>
              <a:rPr lang="en-US" b="1" dirty="0"/>
              <a:t>Components Used:</a:t>
            </a:r>
            <a:endParaRPr lang="en-IN" b="1" dirty="0"/>
          </a:p>
          <a:p>
            <a:endParaRPr lang="en-US" dirty="0"/>
          </a:p>
          <a:p>
            <a:r>
              <a:rPr lang="en-US" dirty="0"/>
              <a:t>There are 2 computers, 4 IP phones, 2 Router (2811 series), 2 Switch (2960-24TT series) used in the project.</a:t>
            </a:r>
            <a:endParaRPr lang="en-IN" dirty="0"/>
          </a:p>
          <a:p>
            <a:r>
              <a:rPr lang="en-US" dirty="0"/>
              <a:t>The Router is connected to the Switch through straight wire which is then connected to the 2 IP phones and a Computer. Same process is done for the second router. The two routers are then connected to each other.</a:t>
            </a:r>
            <a:endParaRPr lang="en-IN" dirty="0"/>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Project Interface</a:t>
            </a:r>
            <a:br>
              <a:rPr lang="en-IN" dirty="0"/>
            </a:br>
            <a:endParaRPr lang="en-IN"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6520" y="1618480"/>
            <a:ext cx="9410393" cy="4857135"/>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Project Output:</a:t>
            </a:r>
            <a:br>
              <a:rPr lang="en-IN" dirty="0"/>
            </a:br>
            <a:endParaRPr lang="en-IN" dirty="0"/>
          </a:p>
        </p:txBody>
      </p:sp>
      <p:pic>
        <p:nvPicPr>
          <p:cNvPr id="4" name="Content Placeholder 3"/>
          <p:cNvPicPr>
            <a:picLocks noGrp="1"/>
          </p:cNvPicPr>
          <p:nvPr>
            <p:ph idx="1"/>
          </p:nvPr>
        </p:nvPicPr>
        <p:blipFill rotWithShape="1">
          <a:blip r:embed="rId2"/>
          <a:srcRect t="13683" b="19327"/>
          <a:stretch>
            <a:fillRect/>
          </a:stretch>
        </p:blipFill>
        <p:spPr bwMode="auto">
          <a:xfrm>
            <a:off x="1251678" y="2286000"/>
            <a:ext cx="9860129" cy="3594100"/>
          </a:xfrm>
          <a:prstGeom prst="rect">
            <a:avLst/>
          </a:prstGeom>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Significance of Project:</a:t>
            </a:r>
            <a:endParaRPr lang="en-IN" dirty="0"/>
          </a:p>
        </p:txBody>
      </p:sp>
      <p:sp>
        <p:nvSpPr>
          <p:cNvPr id="3" name="Content Placeholder 2"/>
          <p:cNvSpPr>
            <a:spLocks noGrp="1"/>
          </p:cNvSpPr>
          <p:nvPr>
            <p:ph idx="1"/>
          </p:nvPr>
        </p:nvSpPr>
        <p:spPr>
          <a:xfrm>
            <a:off x="1022555" y="1592827"/>
            <a:ext cx="10407445" cy="4882788"/>
          </a:xfrm>
        </p:spPr>
        <p:txBody>
          <a:bodyPr>
            <a:normAutofit fontScale="70000" lnSpcReduction="20000"/>
          </a:bodyPr>
          <a:lstStyle/>
          <a:p>
            <a:r>
              <a:rPr lang="en-US" dirty="0"/>
              <a:t>The project simply points out the working of a Voice over IP phone (VoIP) and how it is configured to be used in a real time business organization.</a:t>
            </a:r>
            <a:endParaRPr lang="en-IN" dirty="0"/>
          </a:p>
          <a:p>
            <a:r>
              <a:rPr lang="en-US" dirty="0"/>
              <a:t>VoIP is important because, for the first time in more than 100 years, there is an opportunity to bring about significant change in the way that people communicate. In addition to being able to use the telephones we have today to communicate in real-time, we also have the possibility of using pure IP-based phones, including desktop and wireless phones. We also have the ability to use videophones, much like those seen in science fiction movies. Rather than calling home to talk to the family, a person can call home to see the family.</a:t>
            </a:r>
            <a:endParaRPr lang="en-IN" dirty="0"/>
          </a:p>
          <a:p>
            <a:r>
              <a:rPr lang="en-US" dirty="0"/>
              <a:t>One of the more interesting aspects of VoIP is that we also have the ability to integrate a stand-alone telephone or videophone with the personal computer. One can use a computer entirely for voice and video communications (softphones), use a telephone for voice and the computer for video, or can simply use the computer in conjunction with a separate voice/video phone to provide data conferencing functions, like application sharing, electronic whiteboarding, and text chat.</a:t>
            </a:r>
            <a:endParaRPr lang="en-IN" dirty="0"/>
          </a:p>
          <a:p>
            <a:r>
              <a:rPr lang="en-US" dirty="0"/>
              <a:t>VoIP allows something else: the ability to use a single high-speed Internet connection for all voice, video, and data communications. This idea is commonly referred to as convergence and is one of the primary drivers for corporate interest in the technology. The benefit of convergence should be fairly obvious: by using a single data network for all communications, it is possible to reduce the overall maintenance and deployment costs. The benefit for both home and corporate customers is that they now have the opportunity to choose from a much larger selection of service providers to provide voice and video communication services. Since the VoIP service provider can be located virtually anywhere in the world, a person with Internet access is no longer geographically restricted in their selection of service providers and is certainly not bound to their Internet access provider.</a:t>
            </a:r>
            <a:endParaRPr lang="en-IN" dirty="0"/>
          </a:p>
          <a:p>
            <a:r>
              <a:rPr lang="en-US" dirty="0"/>
              <a:t>In short, VoIP enables people to communicate in more ways and with more choices. Hence the project has been made to bring about the widespread scope of the VoIP.</a:t>
            </a:r>
            <a:endParaRPr lang="en-IN" dirty="0"/>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27850"/>
            <a:ext cx="12192000" cy="2780356"/>
          </a:xfrm>
        </p:spPr>
        <p:txBody>
          <a:bodyPr/>
          <a:lstStyle/>
          <a:p>
            <a:pPr algn="ctr"/>
            <a:r>
              <a:rPr lang="en-IN" dirty="0">
                <a:latin typeface="Dubai Medium" panose="020B0603030403030204" pitchFamily="34" charset="-78"/>
                <a:cs typeface="Dubai Medium" panose="020B0603030403030204" pitchFamily="34" charset="-78"/>
              </a:rPr>
              <a:t>   THANK YOU</a:t>
            </a:r>
          </a:p>
        </p:txBody>
      </p:sp>
    </p:spTree>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Badge</Template>
  <TotalTime>3</TotalTime>
  <Words>1406</Words>
  <Application>Microsoft Office PowerPoint</Application>
  <PresentationFormat>Widescreen</PresentationFormat>
  <Paragraphs>42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Dubai Medium</vt:lpstr>
      <vt:lpstr>Gill Sans MT</vt:lpstr>
      <vt:lpstr>Impact</vt:lpstr>
      <vt:lpstr>Badge</vt:lpstr>
      <vt:lpstr>  [TELEPHONE BHAWAN]</vt:lpstr>
      <vt:lpstr>ACKNOWLEDGEMENT</vt:lpstr>
      <vt:lpstr>ABOUT THE ORGANISATION</vt:lpstr>
      <vt:lpstr>CERTIFICATE</vt:lpstr>
      <vt:lpstr>TOPICS COVERED</vt:lpstr>
      <vt:lpstr>VOIP- INTRODUCTION AND BACKGROUND </vt:lpstr>
      <vt:lpstr>VOIP- INTRODUCTION AND BACKGROUND </vt:lpstr>
      <vt:lpstr>DHCP CONFIGURATION</vt:lpstr>
      <vt:lpstr>PROJECT DESCRIPTION </vt:lpstr>
      <vt:lpstr>Project Interface </vt:lpstr>
      <vt:lpstr>Project Output: </vt:lpstr>
      <vt:lpstr>Significance of Project:</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BSNL [TELEPHONE BHAWAN,PATNA]</dc:title>
  <dc:creator>Srijan Tripathi</dc:creator>
  <cp:lastModifiedBy>Srijan Tripathi</cp:lastModifiedBy>
  <cp:revision>16</cp:revision>
  <dcterms:created xsi:type="dcterms:W3CDTF">2019-07-15T03:57:00Z</dcterms:created>
  <dcterms:modified xsi:type="dcterms:W3CDTF">2020-01-23T12:10:25Z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1033-11.2.0.8942</vt:lpwstr>
  </property>
</Properties>
</file>